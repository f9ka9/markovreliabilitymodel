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73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92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41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6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4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1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17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38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77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53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43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48AF8-2A8D-4F2A-B64D-68F96A28C5B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270F2-79B9-4074-8EC5-A8337BAD9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61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9011" y="656705"/>
            <a:ext cx="11296996" cy="2352501"/>
          </a:xfrm>
        </p:spPr>
        <p:txBody>
          <a:bodyPr>
            <a:normAutofit fontScale="90000"/>
          </a:bodyPr>
          <a:lstStyle/>
          <a:p>
            <a:r>
              <a:rPr lang="ru-RU" sz="4400" b="1" dirty="0" smtClean="0"/>
              <a:t>ОБОСНОВАНИЕ ПАРАМЕТРОВ ЦИФРОВОЙ АКТИВНОЙ ФАЗИРОВАННОЙ АНТЕННОЙ РЕШЕТКИ</a:t>
            </a:r>
            <a:br>
              <a:rPr lang="ru-RU" sz="4400" b="1" dirty="0" smtClean="0"/>
            </a:br>
            <a:r>
              <a:rPr lang="ru-RU" sz="4400" b="1" dirty="0" smtClean="0"/>
              <a:t> С УЧЕТОМ НАДЕЖНОСТИ ЭКБ НА ОСНОВЕ ПРИМЕНЕНИЯ МАРКОВСКОГО ПОДХОДА</a:t>
            </a:r>
            <a:endParaRPr lang="ru-RU" sz="4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5203" y="4170467"/>
            <a:ext cx="2698559" cy="132676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10" y="3558917"/>
            <a:ext cx="3915943" cy="31483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10438" y="0"/>
            <a:ext cx="27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894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09323" y="395203"/>
            <a:ext cx="109589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Имеется уравнение расчета мощности сигнала на входе радиоприемного устройства: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848231" y="0"/>
            <a:ext cx="3317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ПОСТАНОВКА ЗАДАЧИ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8261" y="807616"/>
                <a:ext cx="3089969" cy="645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прм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</a:rPr>
                                  <m:t>прд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прд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прм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(4 </m:t>
                        </m:r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61" y="807616"/>
                <a:ext cx="3089969" cy="645818"/>
              </a:xfrm>
              <a:prstGeom prst="rect">
                <a:avLst/>
              </a:prstGeom>
              <a:blipFill>
                <a:blip r:embed="rId2"/>
                <a:stretch>
                  <a:fillRect r="-5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509323" y="1622319"/>
                <a:ext cx="8142671" cy="2658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прм</m:t>
                        </m:r>
                      </m:sub>
                    </m:sSub>
                  </m:oMath>
                </a14:m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ru-RU" dirty="0" smtClean="0"/>
                  <a:t> мощность на входе РПУ</a:t>
                </a:r>
                <a:r>
                  <a:rPr lang="en-US" dirty="0" smtClean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прд</m:t>
                        </m:r>
                      </m:sub>
                    </m:sSub>
                  </m:oMath>
                </a14:m>
                <a:r>
                  <a:rPr lang="ru-RU" dirty="0" smtClean="0"/>
                  <a:t> - мощность на выходе ПРД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прд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и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sub>
                    </m:sSub>
                  </m:oMath>
                </a14:m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ru-RU" dirty="0" smtClean="0"/>
                  <a:t> коэффициенты усиления приемной и передающей антенн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/>
                    </m:sSup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ru-RU" dirty="0" smtClean="0"/>
                  <a:t> длина волны</a:t>
                </a:r>
                <a:r>
                  <a:rPr lang="en-US" dirty="0" smtClean="0"/>
                  <a:t>                                             </a:t>
                </a:r>
                <a:r>
                  <a:rPr lang="en-US" i="1" dirty="0" smtClean="0"/>
                  <a:t>F</a:t>
                </a:r>
                <a:r>
                  <a:rPr lang="en-US" dirty="0" smtClean="0"/>
                  <a:t> </a:t>
                </a:r>
                <a:r>
                  <a:rPr lang="ru-RU" dirty="0" smtClean="0"/>
                  <a:t>-</a:t>
                </a:r>
                <a:r>
                  <a:rPr lang="en-US" dirty="0" smtClean="0"/>
                  <a:t> </a:t>
                </a:r>
                <a:r>
                  <a:rPr lang="ru-RU" dirty="0" smtClean="0"/>
                  <a:t>множитель ослабления</a:t>
                </a:r>
              </a:p>
              <a:p>
                <a:r>
                  <a:rPr lang="en-US" i="1" dirty="0"/>
                  <a:t>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длина трассы распространения радиоволн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  <m:r>
                      <m:rPr>
                        <m:nor/>
                      </m:rPr>
                      <a:rPr lang="ru-RU" dirty="0" smtClean="0"/>
                      <m:t>−</m:t>
                    </m:r>
                    <m:r>
                      <m:rPr>
                        <m:nor/>
                      </m:rPr>
                      <a:rPr lang="ru-RU" b="0" i="0" dirty="0" smtClean="0"/>
                      <m:t> </m:t>
                    </m:r>
                  </m:oMath>
                </a14:m>
                <a:r>
                  <a:rPr lang="ru-RU" dirty="0" smtClean="0"/>
                  <a:t>количество передающих антенных элементов горизонтальной поляризации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</m:t>
                        </m:r>
                      </m:sup>
                    </m:sSubSup>
                    <m:r>
                      <m:rPr>
                        <m:nor/>
                      </m:rPr>
                      <a:rPr lang="ru-RU" dirty="0" smtClean="0"/>
                      <m:t>−</m:t>
                    </m:r>
                  </m:oMath>
                </a14:m>
                <a:r>
                  <a:rPr lang="ru-RU" dirty="0" smtClean="0"/>
                  <a:t> количество передающих антенных элементов вертикальной поляризации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</m:sSub>
                  </m:oMath>
                </a14:m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ru-RU" dirty="0" smtClean="0"/>
                  <a:t> мощность, излучаемая антенным элементом</a:t>
                </a:r>
              </a:p>
              <a:p>
                <a:r>
                  <a:rPr lang="ru-RU" dirty="0" smtClean="0"/>
                  <a:t>η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 smtClean="0"/>
                  <a:t>коэффициент использования площади </a:t>
                </a:r>
                <a:r>
                  <a:rPr lang="en-US" dirty="0" smtClean="0"/>
                  <a:t>S </a:t>
                </a:r>
                <a:r>
                  <a:rPr lang="ru-RU" dirty="0" smtClean="0"/>
                  <a:t>АФАР</a:t>
                </a:r>
                <a:endParaRPr lang="en-US" dirty="0" smtClean="0"/>
              </a:p>
              <a:p>
                <a:r>
                  <a:rPr lang="en-US" i="1" dirty="0" err="1" smtClean="0"/>
                  <a:t>T</a:t>
                </a:r>
                <a:r>
                  <a:rPr lang="en-US" i="1" baseline="-25000" dirty="0" err="1" smtClean="0"/>
                  <a:t>lim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−</m:t>
                    </m:r>
                  </m:oMath>
                </a14:m>
                <a:r>
                  <a:rPr lang="ru-RU" dirty="0" smtClean="0"/>
                  <a:t>  задаваемый предельный срок службы</a:t>
                </a: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23" y="1622319"/>
                <a:ext cx="8142671" cy="2658741"/>
              </a:xfrm>
              <a:prstGeom prst="rect">
                <a:avLst/>
              </a:prstGeom>
              <a:blipFill>
                <a:blip r:embed="rId3"/>
                <a:stretch>
                  <a:fillRect l="-674" t="-917" r="-300" b="-27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509323" y="5200625"/>
            <a:ext cx="113778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2) Оценить </a:t>
            </a:r>
            <a:r>
              <a:rPr lang="ru-RU" dirty="0"/>
              <a:t>изменение во времени коэффициента </a:t>
            </a:r>
            <a:r>
              <a:rPr lang="ru-RU" dirty="0" smtClean="0"/>
              <a:t>эффективности </a:t>
            </a:r>
            <a:r>
              <a:rPr lang="ru-RU" i="1" dirty="0" err="1" smtClean="0"/>
              <a:t>К</a:t>
            </a:r>
            <a:r>
              <a:rPr lang="ru-RU" i="1" baseline="-25000" dirty="0" err="1" smtClean="0"/>
              <a:t>эф</a:t>
            </a:r>
            <a:r>
              <a:rPr lang="ru-RU" dirty="0" smtClean="0"/>
              <a:t> в пределах и за пределами срока службы</a:t>
            </a:r>
          </a:p>
          <a:p>
            <a:r>
              <a:rPr lang="ru-RU" dirty="0" smtClean="0"/>
              <a:t>3) Рассчитать коэффициенты готовности и оперативной готовности </a:t>
            </a:r>
            <a:r>
              <a:rPr lang="ru-RU" i="1" dirty="0" smtClean="0"/>
              <a:t>К</a:t>
            </a:r>
            <a:r>
              <a:rPr lang="ru-RU" i="1" baseline="-25000" dirty="0" smtClean="0"/>
              <a:t>г</a:t>
            </a:r>
            <a:r>
              <a:rPr lang="ru-RU" i="1" dirty="0" smtClean="0"/>
              <a:t>, </a:t>
            </a:r>
            <a:r>
              <a:rPr lang="ru-RU" i="1" dirty="0" err="1" smtClean="0"/>
              <a:t>К</a:t>
            </a:r>
            <a:r>
              <a:rPr lang="ru-RU" i="1" baseline="-25000" dirty="0" err="1" smtClean="0"/>
              <a:t>ог</a:t>
            </a:r>
            <a:endParaRPr lang="ru-RU" i="1" baseline="-25000" dirty="0" smtClean="0"/>
          </a:p>
          <a:p>
            <a:r>
              <a:rPr lang="ru-RU" dirty="0" smtClean="0"/>
              <a:t>4) Оценить остаточный ресурс работоспособности на требуемый момент времени </a:t>
            </a:r>
            <a:r>
              <a:rPr lang="ru-RU" i="1" dirty="0" smtClean="0"/>
              <a:t>Т</a:t>
            </a:r>
            <a:endParaRPr lang="ru-RU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4157287" y="933420"/>
                <a:ext cx="3306674" cy="394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в</m:t>
                        </m:r>
                      </m:sup>
                    </m:sSubSup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</m:sSub>
                  </m:oMath>
                </a14:m>
                <a:r>
                  <a:rPr lang="ru-RU" dirty="0" smtClean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287" y="933420"/>
                <a:ext cx="3306674" cy="394210"/>
              </a:xfrm>
              <a:prstGeom prst="rect">
                <a:avLst/>
              </a:prstGeom>
              <a:blipFill>
                <a:blip r:embed="rId4"/>
                <a:stretch>
                  <a:fillRect t="-6154" r="-554" b="-18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7954727" y="933420"/>
                <a:ext cx="3233955" cy="394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=4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ru-RU" dirty="0" smtClean="0"/>
                  <a:t> </a:t>
                </a:r>
                <a:r>
                  <a:rPr lang="el-GR" dirty="0" smtClean="0"/>
                  <a:t>η</a:t>
                </a:r>
                <a:r>
                  <a:rPr lang="en-US" i="1" dirty="0"/>
                  <a:t>(</a:t>
                </a:r>
                <a:r>
                  <a:rPr lang="en-US" i="1" dirty="0" smtClean="0"/>
                  <a:t>t)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727" y="933420"/>
                <a:ext cx="3233955" cy="394210"/>
              </a:xfrm>
              <a:prstGeom prst="rect">
                <a:avLst/>
              </a:prstGeom>
              <a:blipFill>
                <a:blip r:embed="rId5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509323" y="4342455"/>
                <a:ext cx="10845861" cy="972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 smtClean="0"/>
                  <a:t>Задачи: 1) Определить количество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</m:oMath>
                </a14:m>
                <a:r>
                  <a:rPr lang="ru-RU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</m:t>
                        </m:r>
                      </m:sup>
                    </m:sSubSup>
                  </m:oMath>
                </a14:m>
                <a:r>
                  <a:rPr lang="ru-RU" dirty="0" smtClean="0"/>
                  <a:t> для </a:t>
                </a:r>
                <a:r>
                  <a:rPr lang="ru-RU" i="1" dirty="0" smtClean="0"/>
                  <a:t>То=0</a:t>
                </a:r>
                <a:r>
                  <a:rPr lang="ru-RU" dirty="0" smtClean="0"/>
                  <a:t>, при которых выполняются следующие ограничения:</a:t>
                </a:r>
                <a:endParaRPr lang="ru-RU" sz="24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23" y="4342455"/>
                <a:ext cx="10845861" cy="97256"/>
              </a:xfrm>
              <a:prstGeom prst="rect">
                <a:avLst/>
              </a:prstGeom>
              <a:blipFill>
                <a:blip r:embed="rId6"/>
                <a:stretch>
                  <a:fillRect l="-506" t="-31250" b="-37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1390912" y="4744634"/>
                <a:ext cx="9195747" cy="394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прм</m:t>
                        </m:r>
                      </m:sub>
                    </m:sSub>
                  </m:oMath>
                </a14:m>
                <a:r>
                  <a:rPr lang="ru-RU" dirty="0" smtClean="0"/>
                  <a:t>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прм</m:t>
                        </m:r>
                      </m:sub>
                    </m:sSub>
                  </m:oMath>
                </a14:m>
                <a:r>
                  <a:rPr lang="ru-RU" baseline="30000" dirty="0" smtClean="0"/>
                  <a:t>зад</a:t>
                </a:r>
                <a:r>
                  <a:rPr lang="en-US" dirty="0" smtClean="0"/>
                  <a:t> </a:t>
                </a:r>
                <a:r>
                  <a:rPr lang="ru-RU" dirty="0" smtClean="0"/>
                  <a:t>(для </a:t>
                </a:r>
                <a:r>
                  <a:rPr lang="en-US" i="1" dirty="0" smtClean="0"/>
                  <a:t>V</a:t>
                </a:r>
                <a:r>
                  <a:rPr lang="ru-RU" i="1" baseline="-25000" dirty="0" smtClean="0"/>
                  <a:t>треб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 smtClean="0"/>
                  <a:t>≥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baseline="30000" dirty="0" smtClean="0"/>
                  <a:t>зад</a:t>
                </a:r>
                <a:r>
                  <a:rPr lang="en-US" dirty="0" smtClean="0"/>
                  <a:t>;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lim</a:t>
                </a:r>
                <a:r>
                  <a:rPr lang="ru-RU" dirty="0" smtClean="0"/>
                  <a:t> ≥</a:t>
                </a:r>
                <a:r>
                  <a:rPr lang="en-US" i="1" dirty="0"/>
                  <a:t> 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lim</a:t>
                </a:r>
                <a:r>
                  <a:rPr lang="en-US" i="1" baseline="-25000" dirty="0"/>
                  <a:t> </a:t>
                </a:r>
                <a:r>
                  <a:rPr lang="ru-RU" baseline="30000" dirty="0" smtClean="0"/>
                  <a:t>зад</a:t>
                </a:r>
                <a:r>
                  <a:rPr lang="ru-RU" dirty="0" smtClean="0"/>
                  <a:t>; </a:t>
                </a:r>
                <a:r>
                  <a:rPr lang="en-US" dirty="0" smtClean="0"/>
                  <a:t>{</a:t>
                </a:r>
                <a:r>
                  <a:rPr lang="ru-RU" dirty="0" smtClean="0"/>
                  <a:t>М, Э, </a:t>
                </a:r>
                <a:r>
                  <a:rPr lang="en-US" dirty="0" smtClean="0"/>
                  <a:t>W} ≤ {</a:t>
                </a:r>
                <a:r>
                  <a:rPr lang="ru-RU" dirty="0" err="1" smtClean="0"/>
                  <a:t>М</a:t>
                </a:r>
                <a:r>
                  <a:rPr lang="ru-RU" baseline="30000" dirty="0" err="1" smtClean="0"/>
                  <a:t>зад</a:t>
                </a:r>
                <a:r>
                  <a:rPr lang="ru-RU" dirty="0" smtClean="0"/>
                  <a:t>, </a:t>
                </a:r>
                <a:r>
                  <a:rPr lang="ru-RU" dirty="0" err="1" smtClean="0"/>
                  <a:t>Э</a:t>
                </a:r>
                <a:r>
                  <a:rPr lang="ru-RU" baseline="30000" dirty="0" err="1" smtClean="0"/>
                  <a:t>зад</a:t>
                </a:r>
                <a:r>
                  <a:rPr lang="ru-RU" dirty="0" smtClean="0"/>
                  <a:t>, </a:t>
                </a:r>
                <a:r>
                  <a:rPr lang="en-US" dirty="0" smtClean="0"/>
                  <a:t>W</a:t>
                </a:r>
                <a:r>
                  <a:rPr lang="ru-RU" baseline="30000" dirty="0" smtClean="0"/>
                  <a:t>зад</a:t>
                </a:r>
                <a:r>
                  <a:rPr lang="en-US" dirty="0" smtClean="0"/>
                  <a:t>} </a:t>
                </a:r>
                <a:r>
                  <a:rPr lang="ru-RU" dirty="0" smtClean="0"/>
                  <a:t>при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ВБР</m:t>
                    </m:r>
                  </m:oMath>
                </a14:m>
                <a:r>
                  <a:rPr lang="ru-RU" dirty="0" smtClean="0"/>
                  <a:t>≥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ВБР</m:t>
                    </m:r>
                  </m:oMath>
                </a14:m>
                <a:r>
                  <a:rPr lang="ru-RU" baseline="30000" dirty="0"/>
                  <a:t>зад</a:t>
                </a:r>
                <a:endParaRPr lang="ru-RU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912" y="4744634"/>
                <a:ext cx="9195747" cy="394210"/>
              </a:xfrm>
              <a:prstGeom prst="rect">
                <a:avLst/>
              </a:prstGeom>
              <a:blipFill>
                <a:blip r:embed="rId7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1877675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359150" y="3569005"/>
                <a:ext cx="3332707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i="1" dirty="0" smtClean="0"/>
                      <m:t>η</m:t>
                    </m:r>
                    <m:r>
                      <m:rPr>
                        <m:nor/>
                      </m:rPr>
                      <a:rPr lang="en-US" b="0" i="1" dirty="0" smtClean="0"/>
                      <m:t>(</m:t>
                    </m:r>
                    <m:r>
                      <m:rPr>
                        <m:nor/>
                      </m:rPr>
                      <a:rPr lang="en-US" b="0" i="1" dirty="0" smtClean="0"/>
                      <m:t>t</m:t>
                    </m:r>
                    <m:r>
                      <m:rPr>
                        <m:nor/>
                      </m:rPr>
                      <a:rPr lang="en-US" b="0" i="1" dirty="0" smtClean="0"/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sup>
                    </m:sSub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/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в</m:t>
                        </m:r>
                      </m:sup>
                    </m:sSubSup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аэ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/</a:t>
                </a:r>
                <a:r>
                  <a:rPr lang="en-US" i="1" dirty="0" smtClean="0"/>
                  <a:t>S</a:t>
                </a:r>
                <a:r>
                  <a:rPr lang="ru-RU" dirty="0" smtClean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150" y="3569005"/>
                <a:ext cx="3332707" cy="392993"/>
              </a:xfrm>
              <a:prstGeom prst="rect">
                <a:avLst/>
              </a:prstGeom>
              <a:blipFill>
                <a:blip r:embed="rId8"/>
                <a:stretch>
                  <a:fillRect t="-1538" r="-914" b="-23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89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39288" y="66502"/>
            <a:ext cx="64928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ДОПУЩЕНИЯ И ОГРАНИЧЕНИЯ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6048" y="814859"/>
            <a:ext cx="10620894" cy="2363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По типовой модели эксплуатации </a:t>
            </a:r>
            <a:r>
              <a:rPr lang="ru-RU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АФАР 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является: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конкретного </a:t>
            </a:r>
            <a:r>
              <a:rPr lang="ru-RU" dirty="0"/>
              <a:t>назначения, имеющим один основной вариант применения по назначению;</a:t>
            </a:r>
          </a:p>
          <a:p>
            <a:pPr marL="2286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dirty="0"/>
              <a:t>многократного циклического применения;</a:t>
            </a:r>
          </a:p>
          <a:p>
            <a:pPr marL="228600" indent="-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с </a:t>
            </a:r>
            <a:r>
              <a:rPr lang="ru-RU" dirty="0"/>
              <a:t>возможностью нахождения в работоспособном состоянии, частично неработоспособном и неработоспособном состоянии;</a:t>
            </a:r>
          </a:p>
          <a:p>
            <a:pPr marL="228600" indent="-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не восстанавливаемой, </a:t>
            </a:r>
            <a:r>
              <a:rPr lang="ru-RU" dirty="0"/>
              <a:t>не </a:t>
            </a:r>
            <a:r>
              <a:rPr lang="ru-RU" dirty="0" smtClean="0"/>
              <a:t>ремонтируемой и не обслуживаемой в рамках рассматриваемого процесса (являются самостоятельными процессами);</a:t>
            </a:r>
            <a:endParaRPr lang="ru-RU" dirty="0"/>
          </a:p>
          <a:p>
            <a:pPr marL="228600" indent="-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интенсивность отказов ЭКБ является постоянной в пределах шага перехода;</a:t>
            </a:r>
          </a:p>
          <a:p>
            <a:pPr marL="228600" indent="-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длительность шага перехода может быть переменной.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244" y="4335864"/>
            <a:ext cx="8381272" cy="166592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44376" y="3532667"/>
            <a:ext cx="7682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ЦИКЛОГРАММА ФУНКЦИОНИРОВАНИЯ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7675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981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9891" y="1064913"/>
            <a:ext cx="5976220" cy="277257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49599" y="66502"/>
            <a:ext cx="64928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МОДЕЛИ ДЛЯ РАСЧЕТА ПОКАЗАТЕЛЕЙ АФАР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4649" y="3190837"/>
            <a:ext cx="2434515" cy="311710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67624" y="2276437"/>
            <a:ext cx="2962622" cy="38238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721590" y="494464"/>
            <a:ext cx="70126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Структурная схема надежности и граф состояний и переходов АФАР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1887200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80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86084" y="152927"/>
            <a:ext cx="9853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Структурная схема надежности и граф состояний и переходов секции антенного устройства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469" y="953625"/>
            <a:ext cx="6315075" cy="500062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0246" y="1185660"/>
            <a:ext cx="4976896" cy="38179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887200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690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8174" y="415075"/>
            <a:ext cx="5010690" cy="372167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926041" y="1782"/>
            <a:ext cx="91641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Структурная схема надежности и граф состояний и переходов приемо-передающего блока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02" y="367542"/>
            <a:ext cx="4832725" cy="625866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9399" y="3959429"/>
            <a:ext cx="3429389" cy="2666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77675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577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24494" y="724027"/>
            <a:ext cx="5303318" cy="5631497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491" y="3303955"/>
            <a:ext cx="5705673" cy="310975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756149" y="0"/>
            <a:ext cx="9640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Структурная схема </a:t>
            </a:r>
            <a:r>
              <a:rPr lang="ru-RU" dirty="0" smtClean="0"/>
              <a:t>надежности, графы состояний и переходов приемо-передающих каналов</a:t>
            </a:r>
            <a:endParaRPr lang="ru-RU"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198" y="846396"/>
            <a:ext cx="4655522" cy="5246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0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45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0" y="830997"/>
                <a:ext cx="12075622" cy="5502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Приведенные графы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состояний и переходов описывают поглощающие конечные </a:t>
                </a:r>
                <a:r>
                  <a:rPr lang="ru-RU" sz="1400" dirty="0" err="1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марковские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цепи (КМЦ), </a:t>
                </a: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обладающие следующими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свойствами: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изменение состояния рассматриваемого процесса рассматривается в дискретные моменты времени, определяемые циклограммой </a:t>
                </a: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функционирования;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количество шагов и состояний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рассматриваемого процесса на задаваемом интервале времени </a:t>
                </a:r>
                <a:r>
                  <a:rPr lang="ru-RU" sz="1400" dirty="0" err="1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счетно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конечно;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имеются поглощающие состояния («полный отказ»), попав в которые, процесс выйти из них уже не может.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этом случае динамика вероятностей состояний КМЦ описывается уравнением Колмогорова-Чепмена (УКЧ):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r"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</m:t>
                                </m:r>
                              </m:sub>
                            </m:sSub>
                          </m:sub>
                          <m:sup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</m:t>
                            </m:r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𝑖</m:t>
                            </m:r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</m:t>
                            </m:r>
                          </m:sup>
                        </m:sSubSup>
                        <m: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=  </m:t>
                        </m:r>
                        <m:sSubSup>
                          <m:sSubSup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ru-RU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</m:t>
                                </m:r>
                              </m:sub>
                            </m:sSub>
                          </m:sub>
                          <m:sup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(0)</m:t>
                            </m:r>
                          </m:sup>
                        </m:sSubSup>
                        <m: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[</m:t>
                            </m:r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𝑛</m:t>
                            </m:r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𝑛</m:t>
                            </m:r>
                            <m: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]</m:t>
                            </m:r>
                          </m:sub>
                        </m:sSub>
                        <m: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p>
                    </m:sSup>
                    <m:r>
                      <a:rPr lang="ru-RU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	</a:t>
                </a:r>
                <a:r>
                  <a:rPr lang="en-US" sz="1400" dirty="0" smtClean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		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			</a:t>
                </a:r>
                <a:r>
                  <a:rPr lang="ru-RU" sz="1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(1)</a:t>
                </a:r>
                <a:endParaRPr lang="ru-RU" sz="1400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где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  <m:sup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ru-RU" sz="1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вектор вероятностей КМЦ на </a:t>
                </a:r>
                <a:r>
                  <a:rPr lang="en-US" sz="1400" i="1" dirty="0" err="1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-ом шаге;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Sup>
                      <m:sSubSup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  <m:sup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bSup>
                  </m:oMath>
                </a14:m>
                <a:r>
                  <a:rPr lang="ru-RU" sz="1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вектор вероятностей состояний КМЦ на нулевом шаге (вектор начальных состояний);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</m:t>
                    </m:r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</m:sSub>
                  </m:oMath>
                </a14:m>
                <a:r>
                  <a:rPr lang="ru-RU" sz="1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матрица переходных вероятностей (МПВ) КМЦ.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 smtClean="0">
                    <a:ea typeface="Calibri" panose="020F0502020204030204" pitchFamily="34" charset="0"/>
                    <a:cs typeface="Times New Roman" panose="02020603050405020304" pitchFamily="18" charset="0"/>
                  </a:rPr>
                  <a:t>Для определения МПВ осуществляется расчет вероятности безотказной работы элемента в соответствии с принятыми допущениями по выражению: </a:t>
                </a:r>
                <a:endParaRPr lang="ru-RU" sz="1400" dirty="0" smtClean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400" i="1" baseline="-25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е</a:t>
                </a:r>
                <a:r>
                  <a:rPr lang="en-US" sz="1400" i="1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xp</a:t>
                </a:r>
                <a:r>
                  <a:rPr lang="ru-RU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(-</a:t>
                </a:r>
                <a:r>
                  <a:rPr lang="en-US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ru-RU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</a:t>
                </a:r>
                <a:r>
                  <a:rPr lang="ru-RU" sz="1400" i="1" baseline="-25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 	</a:t>
                </a:r>
                <a:r>
                  <a:rPr lang="en-US" sz="1400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400" i="1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(2)</a:t>
                </a:r>
                <a:endParaRPr lang="ru-RU" sz="1400" dirty="0" smtClean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 smtClean="0">
                    <a:ea typeface="Calibri" panose="020F0502020204030204" pitchFamily="34" charset="0"/>
                    <a:cs typeface="Times New Roman" panose="02020603050405020304" pitchFamily="18" charset="0"/>
                  </a:rPr>
                  <a:t>где   </a:t>
                </a:r>
                <a:r>
                  <a:rPr lang="ru-RU" sz="1400" i="1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Т</a:t>
                </a:r>
                <a:r>
                  <a:rPr lang="ru-RU" sz="1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– продолжительность интервала времени, час;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</a:t>
                </a:r>
                <a:r>
                  <a:rPr lang="en-US" sz="1400" i="1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λ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интенсивность отказов элемента.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Интенсивность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отказов элементов при хранении составляет 10% от интенсивности отказов во время функционирования: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λ</a:t>
                </a:r>
                <a:r>
                  <a:rPr lang="ru-RU" sz="1400" i="1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</a:t>
                </a:r>
                <a:r>
                  <a:rPr lang="ru-RU" sz="1400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0,1 </a:t>
                </a:r>
                <a:r>
                  <a:rPr lang="ru-RU" sz="1400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λ</a:t>
                </a:r>
                <a:r>
                  <a:rPr lang="ru-RU" sz="1400" i="1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э</a:t>
                </a:r>
                <a:r>
                  <a:rPr lang="ru-RU" sz="1400" i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(3)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для этапов функционирования и хранения формируются различные МВП, которые последовательно подставляются в выражение (1), в зависимости от моделируемого шага.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Неоднородность времени между шагами переходов (ШП) в классической теории КМЦ учитывается вводом «фиктивных состояний» и нормировкой всех ШП по наименьшему. </a:t>
                </a: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Также известен метод «среднего шага перехода». </a:t>
                </a:r>
              </a:p>
              <a:p>
                <a:pPr indent="44958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данном случае при расчете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показателей </a:t>
                </a: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АФАР учитывается постоянство интенсивности отказов на времени шага перехода, тем самым нормировка </a:t>
                </a:r>
                <a:r>
                  <a:rPr lang="ru-RU" sz="1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ШП осуществляется изменением вероятности события в зависимости от его длительности по выражениям (2) и (3</a:t>
                </a:r>
                <a:r>
                  <a:rPr lang="ru-RU" sz="140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r>
                  <a:rPr lang="ru-RU" sz="1400" dirty="0">
                    <a:ea typeface="Times New Roman" panose="02020603050405020304" pitchFamily="18" charset="0"/>
                  </a:rPr>
                  <a:t>			</a:t>
                </a:r>
                <a:endParaRPr lang="ru-RU" sz="14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0997"/>
                <a:ext cx="12075622" cy="5502981"/>
              </a:xfrm>
              <a:prstGeom prst="rect">
                <a:avLst/>
              </a:prstGeom>
              <a:blipFill>
                <a:blip r:embed="rId2"/>
                <a:stretch>
                  <a:fillRect l="-151" r="-151" b="-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1976763" y="66502"/>
            <a:ext cx="8597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МАТЕМАТИЧЕСКИЙ АППАРАТ РАСЧЕТА ПОКАЗАТЕЛЕЙ АФАР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7675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423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869273"/>
              </p:ext>
            </p:extLst>
          </p:nvPr>
        </p:nvGraphicFramePr>
        <p:xfrm>
          <a:off x="3838060" y="1040979"/>
          <a:ext cx="3581399" cy="190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896">
                  <a:extLst>
                    <a:ext uri="{9D8B030D-6E8A-4147-A177-3AD203B41FA5}">
                      <a16:colId xmlns:a16="http://schemas.microsoft.com/office/drawing/2014/main" val="300254146"/>
                    </a:ext>
                  </a:extLst>
                </a:gridCol>
                <a:gridCol w="419844">
                  <a:extLst>
                    <a:ext uri="{9D8B030D-6E8A-4147-A177-3AD203B41FA5}">
                      <a16:colId xmlns:a16="http://schemas.microsoft.com/office/drawing/2014/main" val="3794066241"/>
                    </a:ext>
                  </a:extLst>
                </a:gridCol>
                <a:gridCol w="448470">
                  <a:extLst>
                    <a:ext uri="{9D8B030D-6E8A-4147-A177-3AD203B41FA5}">
                      <a16:colId xmlns:a16="http://schemas.microsoft.com/office/drawing/2014/main" val="3656344121"/>
                    </a:ext>
                  </a:extLst>
                </a:gridCol>
                <a:gridCol w="381677">
                  <a:extLst>
                    <a:ext uri="{9D8B030D-6E8A-4147-A177-3AD203B41FA5}">
                      <a16:colId xmlns:a16="http://schemas.microsoft.com/office/drawing/2014/main" val="1467047951"/>
                    </a:ext>
                  </a:extLst>
                </a:gridCol>
                <a:gridCol w="362593">
                  <a:extLst>
                    <a:ext uri="{9D8B030D-6E8A-4147-A177-3AD203B41FA5}">
                      <a16:colId xmlns:a16="http://schemas.microsoft.com/office/drawing/2014/main" val="1307862028"/>
                    </a:ext>
                  </a:extLst>
                </a:gridCol>
                <a:gridCol w="438928">
                  <a:extLst>
                    <a:ext uri="{9D8B030D-6E8A-4147-A177-3AD203B41FA5}">
                      <a16:colId xmlns:a16="http://schemas.microsoft.com/office/drawing/2014/main" val="1428358846"/>
                    </a:ext>
                  </a:extLst>
                </a:gridCol>
                <a:gridCol w="410302">
                  <a:extLst>
                    <a:ext uri="{9D8B030D-6E8A-4147-A177-3AD203B41FA5}">
                      <a16:colId xmlns:a16="http://schemas.microsoft.com/office/drawing/2014/main" val="1514478496"/>
                    </a:ext>
                  </a:extLst>
                </a:gridCol>
                <a:gridCol w="368954">
                  <a:extLst>
                    <a:ext uri="{9D8B030D-6E8A-4147-A177-3AD203B41FA5}">
                      <a16:colId xmlns:a16="http://schemas.microsoft.com/office/drawing/2014/main" val="693127227"/>
                    </a:ext>
                  </a:extLst>
                </a:gridCol>
                <a:gridCol w="470735">
                  <a:extLst>
                    <a:ext uri="{9D8B030D-6E8A-4147-A177-3AD203B41FA5}">
                      <a16:colId xmlns:a16="http://schemas.microsoft.com/office/drawing/2014/main" val="44081072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матрица интесивностей отказов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421159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6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374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Р00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0,5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2,1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73694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Р11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0,5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2,1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717897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Р22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2,1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60798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 dirty="0">
                          <a:effectLst/>
                        </a:rPr>
                        <a:t>0,5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Р33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2,1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81054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0,5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Р44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3,07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u="none" strike="noStrike">
                          <a:effectLst/>
                        </a:rPr>
                        <a:t>3,15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555376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38078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53126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P77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2831705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43577"/>
              </p:ext>
            </p:extLst>
          </p:nvPr>
        </p:nvGraphicFramePr>
        <p:xfrm>
          <a:off x="75627" y="4321797"/>
          <a:ext cx="7721600" cy="2049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1717">
                  <a:extLst>
                    <a:ext uri="{9D8B030D-6E8A-4147-A177-3AD203B41FA5}">
                      <a16:colId xmlns:a16="http://schemas.microsoft.com/office/drawing/2014/main" val="1395330683"/>
                    </a:ext>
                  </a:extLst>
                </a:gridCol>
                <a:gridCol w="942200">
                  <a:extLst>
                    <a:ext uri="{9D8B030D-6E8A-4147-A177-3AD203B41FA5}">
                      <a16:colId xmlns:a16="http://schemas.microsoft.com/office/drawing/2014/main" val="969426174"/>
                    </a:ext>
                  </a:extLst>
                </a:gridCol>
                <a:gridCol w="875580">
                  <a:extLst>
                    <a:ext uri="{9D8B030D-6E8A-4147-A177-3AD203B41FA5}">
                      <a16:colId xmlns:a16="http://schemas.microsoft.com/office/drawing/2014/main" val="2555275426"/>
                    </a:ext>
                  </a:extLst>
                </a:gridCol>
                <a:gridCol w="799443">
                  <a:extLst>
                    <a:ext uri="{9D8B030D-6E8A-4147-A177-3AD203B41FA5}">
                      <a16:colId xmlns:a16="http://schemas.microsoft.com/office/drawing/2014/main" val="1949965915"/>
                    </a:ext>
                  </a:extLst>
                </a:gridCol>
                <a:gridCol w="866063">
                  <a:extLst>
                    <a:ext uri="{9D8B030D-6E8A-4147-A177-3AD203B41FA5}">
                      <a16:colId xmlns:a16="http://schemas.microsoft.com/office/drawing/2014/main" val="969097652"/>
                    </a:ext>
                  </a:extLst>
                </a:gridCol>
                <a:gridCol w="875580">
                  <a:extLst>
                    <a:ext uri="{9D8B030D-6E8A-4147-A177-3AD203B41FA5}">
                      <a16:colId xmlns:a16="http://schemas.microsoft.com/office/drawing/2014/main" val="864191628"/>
                    </a:ext>
                  </a:extLst>
                </a:gridCol>
                <a:gridCol w="812132">
                  <a:extLst>
                    <a:ext uri="{9D8B030D-6E8A-4147-A177-3AD203B41FA5}">
                      <a16:colId xmlns:a16="http://schemas.microsoft.com/office/drawing/2014/main" val="2914832208"/>
                    </a:ext>
                  </a:extLst>
                </a:gridCol>
                <a:gridCol w="786753">
                  <a:extLst>
                    <a:ext uri="{9D8B030D-6E8A-4147-A177-3AD203B41FA5}">
                      <a16:colId xmlns:a16="http://schemas.microsoft.com/office/drawing/2014/main" val="4094280730"/>
                    </a:ext>
                  </a:extLst>
                </a:gridCol>
                <a:gridCol w="812132">
                  <a:extLst>
                    <a:ext uri="{9D8B030D-6E8A-4147-A177-3AD203B41FA5}">
                      <a16:colId xmlns:a16="http://schemas.microsoft.com/office/drawing/2014/main" val="1253112464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Решения через УКЧ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матрица переходных вероятностей за </a:t>
                      </a:r>
                      <a:r>
                        <a:rPr lang="ru-RU" sz="1100" u="none" strike="noStrike" dirty="0" err="1">
                          <a:effectLst/>
                        </a:rPr>
                        <a:t>dT</a:t>
                      </a:r>
                      <a:r>
                        <a:rPr lang="ru-RU" sz="1100" u="none" strike="noStrike" dirty="0">
                          <a:effectLst/>
                        </a:rPr>
                        <a:t>, час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1460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10243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1-й период работы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27071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0,985689416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0,985689416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0,004588441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0,000729734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0,001458935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0,003061305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0,00447217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82204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0,004588441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0,990277857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0,000729734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0,001458935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0,003061305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0,00447217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10124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0,000729734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0,004588441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0,98641915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0,001458935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0,003061305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0,00447217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3457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0,001458935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0,004588441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0,000729734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0,987148351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0,003061305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0,00447217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60031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0,003061305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0,000729734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0,001458935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0,988750721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0,00447217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0,004588441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29053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68651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0,00447217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019320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18249018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637761" y="3141758"/>
            <a:ext cx="144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е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xp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(-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</a:t>
            </a:r>
            <a:r>
              <a:rPr lang="ru-RU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10" name="Стрелка вниз 9"/>
          <p:cNvSpPr/>
          <p:nvPr/>
        </p:nvSpPr>
        <p:spPr>
          <a:xfrm>
            <a:off x="5070556" y="3141758"/>
            <a:ext cx="66198" cy="10392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636866" y="3547111"/>
            <a:ext cx="113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i="1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 = 0,1 </a:t>
            </a:r>
            <a:r>
              <a:rPr lang="ru-RU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i="1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э</a:t>
            </a:r>
            <a:endParaRPr lang="ru-RU" dirty="0"/>
          </a:p>
        </p:txBody>
      </p:sp>
      <p:pic>
        <p:nvPicPr>
          <p:cNvPr id="13" name="Рисунок 12"/>
          <p:cNvPicPr/>
          <p:nvPr/>
        </p:nvPicPr>
        <p:blipFill rotWithShape="1">
          <a:blip r:embed="rId2"/>
          <a:srcRect t="13595" r="52082"/>
          <a:stretch/>
        </p:blipFill>
        <p:spPr>
          <a:xfrm>
            <a:off x="406910" y="958552"/>
            <a:ext cx="2623444" cy="25163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16</a:t>
            </a:r>
            <a:endParaRPr lang="ru-RU" dirty="0"/>
          </a:p>
        </p:txBody>
      </p:sp>
      <p:sp>
        <p:nvSpPr>
          <p:cNvPr id="2" name="Стрелка вправо 1"/>
          <p:cNvSpPr/>
          <p:nvPr/>
        </p:nvSpPr>
        <p:spPr>
          <a:xfrm>
            <a:off x="3030354" y="2161309"/>
            <a:ext cx="607407" cy="99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8975400" y="5058206"/>
            <a:ext cx="22550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Метод динамики средних</a:t>
            </a:r>
            <a:endParaRPr lang="ru-RU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5153103" y="3308888"/>
                <a:ext cx="2705292" cy="5053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=  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(0)</m:t>
                            </m:r>
                          </m:sup>
                        </m:sSubSup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ru-RU" i="1" cap="small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103" y="3308888"/>
                <a:ext cx="2705292" cy="505395"/>
              </a:xfrm>
              <a:prstGeom prst="rect">
                <a:avLst/>
              </a:prstGeom>
              <a:blipFill>
                <a:blip r:embed="rId3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Стрелка вправо 22"/>
          <p:cNvSpPr/>
          <p:nvPr/>
        </p:nvSpPr>
        <p:spPr>
          <a:xfrm>
            <a:off x="7053083" y="3918410"/>
            <a:ext cx="607407" cy="997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низ 23"/>
          <p:cNvSpPr/>
          <p:nvPr/>
        </p:nvSpPr>
        <p:spPr>
          <a:xfrm flipH="1">
            <a:off x="8758426" y="5021063"/>
            <a:ext cx="45719" cy="3256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556256"/>
              </p:ext>
            </p:extLst>
          </p:nvPr>
        </p:nvGraphicFramePr>
        <p:xfrm>
          <a:off x="7879314" y="419399"/>
          <a:ext cx="4263961" cy="44970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7784">
                  <a:extLst>
                    <a:ext uri="{9D8B030D-6E8A-4147-A177-3AD203B41FA5}">
                      <a16:colId xmlns:a16="http://schemas.microsoft.com/office/drawing/2014/main" val="60091213"/>
                    </a:ext>
                  </a:extLst>
                </a:gridCol>
                <a:gridCol w="1013908">
                  <a:extLst>
                    <a:ext uri="{9D8B030D-6E8A-4147-A177-3AD203B41FA5}">
                      <a16:colId xmlns:a16="http://schemas.microsoft.com/office/drawing/2014/main" val="3505301866"/>
                    </a:ext>
                  </a:extLst>
                </a:gridCol>
                <a:gridCol w="1052470">
                  <a:extLst>
                    <a:ext uri="{9D8B030D-6E8A-4147-A177-3AD203B41FA5}">
                      <a16:colId xmlns:a16="http://schemas.microsoft.com/office/drawing/2014/main" val="263102624"/>
                    </a:ext>
                  </a:extLst>
                </a:gridCol>
                <a:gridCol w="999799">
                  <a:extLst>
                    <a:ext uri="{9D8B030D-6E8A-4147-A177-3AD203B41FA5}">
                      <a16:colId xmlns:a16="http://schemas.microsoft.com/office/drawing/2014/main" val="2641483053"/>
                    </a:ext>
                  </a:extLst>
                </a:gridCol>
              </a:tblGrid>
              <a:tr h="4348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Состояния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Расчет по структурной схеме надежности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Расчет по УКЧ без учета </a:t>
                      </a:r>
                      <a:r>
                        <a:rPr lang="ru-RU" sz="900" dirty="0" smtClean="0">
                          <a:effectLst/>
                        </a:rPr>
                        <a:t>паузы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Расчет по УКЧ с учетом </a:t>
                      </a:r>
                      <a:r>
                        <a:rPr lang="ru-RU" sz="900" dirty="0" smtClean="0">
                          <a:effectLst/>
                        </a:rPr>
                        <a:t>паузы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extLst>
                  <a:ext uri="{0D108BD9-81ED-4DB2-BD59-A6C34878D82A}">
                    <a16:rowId xmlns:a16="http://schemas.microsoft.com/office/drawing/2014/main" val="1714792667"/>
                  </a:ext>
                </a:extLst>
              </a:tr>
              <a:tr h="1481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исправен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0,9879263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0,9856894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0,9765930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ctr"/>
                </a:tc>
                <a:extLst>
                  <a:ext uri="{0D108BD9-81ED-4DB2-BD59-A6C34878D82A}">
                    <a16:rowId xmlns:a16="http://schemas.microsoft.com/office/drawing/2014/main" val="913849290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ПРДк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0,0045884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0,0074440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3170214333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Т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0,0007297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0,0011795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2037260148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отказ U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0,0014589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0,0023599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2778596550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ПРМк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0,0030613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0,0049581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4141146420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ПРДк+Т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0,0000039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3886158975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отказ </a:t>
                      </a:r>
                      <a:r>
                        <a:rPr lang="ru-RU" sz="900" dirty="0" err="1">
                          <a:effectLst/>
                        </a:rPr>
                        <a:t>ПРДк+U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0,0000078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689533586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Т+ПРДк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0,0000039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1230843809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Т+ПРМк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0,0000026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2625870671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U+ПРДк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0,0000077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2377773045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U+ПРМк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0,0000052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4040224338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ПРМк+Т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0,0000026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4269819324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ПРМк+U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0,0000052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3010282162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ПРДк+Т+U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0,0000078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1898465567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ПРДк+U+T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0,0000039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449450542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T+ПРДк+U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0,0000012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2038126026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T+ПРМк+U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0,0000012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4286858591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U+ПРДк+T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0,0000012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330401063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U+ПРМк+T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0,0000026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1586893752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ПРМк+Т+U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0,0000052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3586941206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ПРМк+U+T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0,0000026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4044667300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ПРДк+Т+U+ПРМк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0,0000164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125896513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общих узлов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0,0044722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0,0073683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3226325677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ПРМк+Т+U+ПРДк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0,0000000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0,0000164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1024893698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отказ в целом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0,012074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0,0044722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0,0074011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extLst>
                  <a:ext uri="{0D108BD9-81ED-4DB2-BD59-A6C34878D82A}">
                    <a16:rowId xmlns:a16="http://schemas.microsoft.com/office/drawing/2014/main" val="2699434861"/>
                  </a:ext>
                </a:extLst>
              </a:tr>
              <a:tr h="289876">
                <a:tc grid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Примечания: </a:t>
                      </a:r>
                      <a:r>
                        <a:rPr lang="ru-RU" sz="900" dirty="0" err="1">
                          <a:effectLst/>
                        </a:rPr>
                        <a:t>ПРДк</a:t>
                      </a:r>
                      <a:r>
                        <a:rPr lang="ru-RU" sz="900" dirty="0">
                          <a:effectLst/>
                        </a:rPr>
                        <a:t> – передающий канал; </a:t>
                      </a:r>
                      <a:r>
                        <a:rPr lang="ru-RU" sz="900" dirty="0" err="1">
                          <a:effectLst/>
                        </a:rPr>
                        <a:t>ПРМк</a:t>
                      </a:r>
                      <a:r>
                        <a:rPr lang="ru-RU" sz="900" dirty="0">
                          <a:effectLst/>
                        </a:rPr>
                        <a:t> – приемный канал;</a:t>
                      </a:r>
                      <a:endParaRPr lang="ru-RU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                        Т – датчик температуры; </a:t>
                      </a:r>
                      <a:r>
                        <a:rPr lang="en-US" sz="900" dirty="0">
                          <a:effectLst/>
                        </a:rPr>
                        <a:t>U </a:t>
                      </a:r>
                      <a:r>
                        <a:rPr lang="ru-RU" sz="900" dirty="0">
                          <a:effectLst/>
                        </a:rPr>
                        <a:t>– компаратор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789" marR="50789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67044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/>
          </p:nvPr>
        </p:nvGraphicFramePr>
        <p:xfrm>
          <a:off x="7879315" y="5454188"/>
          <a:ext cx="4263960" cy="670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811">
                  <a:extLst>
                    <a:ext uri="{9D8B030D-6E8A-4147-A177-3AD203B41FA5}">
                      <a16:colId xmlns:a16="http://schemas.microsoft.com/office/drawing/2014/main" val="1804985779"/>
                    </a:ext>
                  </a:extLst>
                </a:gridCol>
                <a:gridCol w="922408">
                  <a:extLst>
                    <a:ext uri="{9D8B030D-6E8A-4147-A177-3AD203B41FA5}">
                      <a16:colId xmlns:a16="http://schemas.microsoft.com/office/drawing/2014/main" val="3100480264"/>
                    </a:ext>
                  </a:extLst>
                </a:gridCol>
                <a:gridCol w="1200871">
                  <a:extLst>
                    <a:ext uri="{9D8B030D-6E8A-4147-A177-3AD203B41FA5}">
                      <a16:colId xmlns:a16="http://schemas.microsoft.com/office/drawing/2014/main" val="1883045041"/>
                    </a:ext>
                  </a:extLst>
                </a:gridCol>
                <a:gridCol w="1200870">
                  <a:extLst>
                    <a:ext uri="{9D8B030D-6E8A-4147-A177-3AD203B41FA5}">
                      <a16:colId xmlns:a16="http://schemas.microsoft.com/office/drawing/2014/main" val="919782381"/>
                    </a:ext>
                  </a:extLst>
                </a:gridCol>
              </a:tblGrid>
              <a:tr h="13407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</a:rPr>
                        <a:t>Состояние</a:t>
                      </a: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Математическое ожидание количества МС ППК </a:t>
                      </a:r>
                      <a:r>
                        <a:rPr lang="ru-RU" sz="800" dirty="0" smtClean="0">
                          <a:effectLst/>
                        </a:rPr>
                        <a:t>ППБ (всего</a:t>
                      </a:r>
                      <a:r>
                        <a:rPr lang="ru-RU" sz="800" baseline="0" dirty="0" smtClean="0">
                          <a:effectLst/>
                        </a:rPr>
                        <a:t> 640)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0894"/>
                  </a:ext>
                </a:extLst>
              </a:tr>
              <a:tr h="13407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Расчет по ССхН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Расчет по УКЧ (вар. 1)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Расчет по УКЧ (вар. 2)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254841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Исправно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632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631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625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9137344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Частичный отказ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-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6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10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4053198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Полный отказ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3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5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7783324"/>
                  </a:ext>
                </a:extLst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1976763" y="66502"/>
            <a:ext cx="8597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СХЕМА РАСЧЕТА ПО УКЧ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77675" y="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745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76763" y="66502"/>
            <a:ext cx="8597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РЕЗУЛЬТАТЫ РАСЧЕТОВ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120772"/>
              </p:ext>
            </p:extLst>
          </p:nvPr>
        </p:nvGraphicFramePr>
        <p:xfrm>
          <a:off x="376563" y="967316"/>
          <a:ext cx="6192876" cy="2704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541">
                  <a:extLst>
                    <a:ext uri="{9D8B030D-6E8A-4147-A177-3AD203B41FA5}">
                      <a16:colId xmlns:a16="http://schemas.microsoft.com/office/drawing/2014/main" val="1650551076"/>
                    </a:ext>
                  </a:extLst>
                </a:gridCol>
                <a:gridCol w="1094282">
                  <a:extLst>
                    <a:ext uri="{9D8B030D-6E8A-4147-A177-3AD203B41FA5}">
                      <a16:colId xmlns:a16="http://schemas.microsoft.com/office/drawing/2014/main" val="2298971236"/>
                    </a:ext>
                  </a:extLst>
                </a:gridCol>
                <a:gridCol w="1119539">
                  <a:extLst>
                    <a:ext uri="{9D8B030D-6E8A-4147-A177-3AD203B41FA5}">
                      <a16:colId xmlns:a16="http://schemas.microsoft.com/office/drawing/2014/main" val="2074557404"/>
                    </a:ext>
                  </a:extLst>
                </a:gridCol>
                <a:gridCol w="2263514">
                  <a:extLst>
                    <a:ext uri="{9D8B030D-6E8A-4147-A177-3AD203B41FA5}">
                      <a16:colId xmlns:a16="http://schemas.microsoft.com/office/drawing/2014/main" val="1201416511"/>
                    </a:ext>
                  </a:extLst>
                </a:gridCol>
              </a:tblGrid>
              <a:tr h="479547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Функция успеха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Функция не успеха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5487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ССхН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МП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МП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267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МС ППК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101832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101832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325733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41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ППБ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6382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6342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98039218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18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Секция АУ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789,52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789,8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3030303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9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Модем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210084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210261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3703703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81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АФАР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156,667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156,316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19589 (ВБР=0,95)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86222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05683" y="3803335"/>
            <a:ext cx="616375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ea typeface="Calibri" panose="020F0502020204030204" pitchFamily="34" charset="0"/>
              </a:rPr>
              <a:t>         </a:t>
            </a:r>
            <a:r>
              <a:rPr lang="ru-RU" sz="1600" dirty="0" smtClean="0">
                <a:ea typeface="Calibri" panose="020F0502020204030204" pitchFamily="34" charset="0"/>
              </a:rPr>
              <a:t>Полученные оценки для «функции успеха» </a:t>
            </a:r>
            <a:r>
              <a:rPr lang="ru-RU" sz="1600" dirty="0">
                <a:ea typeface="Calibri" panose="020F0502020204030204" pitchFamily="34" charset="0"/>
              </a:rPr>
              <a:t>характеризуют вероятность возникновения любого отказа в ЭКБ, при этом не обязательно приводящему к полному </a:t>
            </a:r>
            <a:r>
              <a:rPr lang="ru-RU" sz="1600" dirty="0" smtClean="0">
                <a:ea typeface="Calibri" panose="020F0502020204030204" pitchFamily="34" charset="0"/>
              </a:rPr>
              <a:t>отказу. </a:t>
            </a:r>
            <a:r>
              <a:rPr lang="ru-RU" sz="1600" dirty="0">
                <a:ea typeface="Calibri" panose="020F0502020204030204" pitchFamily="34" charset="0"/>
              </a:rPr>
              <a:t>Результаты данных расчетов </a:t>
            </a:r>
            <a:r>
              <a:rPr lang="ru-RU" sz="1600" dirty="0" smtClean="0">
                <a:ea typeface="Calibri" panose="020F0502020204030204" pitchFamily="34" charset="0"/>
              </a:rPr>
              <a:t>показывают </a:t>
            </a:r>
            <a:r>
              <a:rPr lang="ru-RU" sz="1600" dirty="0">
                <a:ea typeface="Calibri" panose="020F0502020204030204" pitchFamily="34" charset="0"/>
              </a:rPr>
              <a:t>ограничение метода расчета показателей надежности на основе применения выражений для </a:t>
            </a:r>
            <a:r>
              <a:rPr lang="ru-RU" sz="1600" dirty="0" err="1">
                <a:ea typeface="Calibri" panose="020F0502020204030204" pitchFamily="34" charset="0"/>
              </a:rPr>
              <a:t>ССхН</a:t>
            </a:r>
            <a:r>
              <a:rPr lang="ru-RU" sz="1600" dirty="0" smtClean="0">
                <a:ea typeface="Calibri" panose="020F0502020204030204" pitchFamily="34" charset="0"/>
              </a:rPr>
              <a:t>.</a:t>
            </a:r>
          </a:p>
          <a:p>
            <a:pPr algn="just"/>
            <a:r>
              <a:rPr lang="ru-RU" sz="1600" dirty="0" smtClean="0"/>
              <a:t>         Тем не менее, получаемые оценки позволяют сравнивать различные варианты конструктивного исполнения АФАР.</a:t>
            </a:r>
            <a:endParaRPr lang="ru-RU" sz="16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66673"/>
              </p:ext>
            </p:extLst>
          </p:nvPr>
        </p:nvGraphicFramePr>
        <p:xfrm>
          <a:off x="7571327" y="967316"/>
          <a:ext cx="3420522" cy="50239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2543">
                  <a:extLst>
                    <a:ext uri="{9D8B030D-6E8A-4147-A177-3AD203B41FA5}">
                      <a16:colId xmlns:a16="http://schemas.microsoft.com/office/drawing/2014/main" val="4007130396"/>
                    </a:ext>
                  </a:extLst>
                </a:gridCol>
                <a:gridCol w="798923">
                  <a:extLst>
                    <a:ext uri="{9D8B030D-6E8A-4147-A177-3AD203B41FA5}">
                      <a16:colId xmlns:a16="http://schemas.microsoft.com/office/drawing/2014/main" val="807476765"/>
                    </a:ext>
                  </a:extLst>
                </a:gridCol>
                <a:gridCol w="820133">
                  <a:extLst>
                    <a:ext uri="{9D8B030D-6E8A-4147-A177-3AD203B41FA5}">
                      <a16:colId xmlns:a16="http://schemas.microsoft.com/office/drawing/2014/main" val="543589058"/>
                    </a:ext>
                  </a:extLst>
                </a:gridCol>
                <a:gridCol w="798923">
                  <a:extLst>
                    <a:ext uri="{9D8B030D-6E8A-4147-A177-3AD203B41FA5}">
                      <a16:colId xmlns:a16="http://schemas.microsoft.com/office/drawing/2014/main" val="97805572"/>
                    </a:ext>
                  </a:extLst>
                </a:gridCol>
              </a:tblGrid>
              <a:tr h="5951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Наработка, час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ВБР </a:t>
                      </a:r>
                      <a:r>
                        <a:rPr lang="ru-RU" sz="800" dirty="0" smtClean="0">
                          <a:effectLst/>
                        </a:rPr>
                        <a:t>МС</a:t>
                      </a:r>
                      <a:r>
                        <a:rPr lang="ru-RU" sz="800" baseline="0" dirty="0" smtClean="0">
                          <a:effectLst/>
                        </a:rPr>
                        <a:t> ППК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Количество приемо-передающих каналов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Кэф (% излучаемой мощности)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ctr"/>
                </a:tc>
                <a:extLst>
                  <a:ext uri="{0D108BD9-81ED-4DB2-BD59-A6C34878D82A}">
                    <a16:rowId xmlns:a16="http://schemas.microsoft.com/office/drawing/2014/main" val="2776318564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0,9992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634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99,1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652712270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0,9894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627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98,0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093004663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3000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0,9797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621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97,0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4242236153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0,9699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615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96,1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276877415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0,9602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609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95,2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62461655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0,9505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602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94,1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00000488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0,9409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596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93,1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99656601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0,9312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590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92,2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515383980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0,9216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584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91,3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088518553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10000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0,912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578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90,3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714717297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11000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0,9024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572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89,4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4786161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12000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0,8929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566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88,4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360828587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13000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0,8834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560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87,5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526409554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14000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0,8739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554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86,6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110903828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15000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0,8645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548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85,6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66588846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16000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0,855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541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84,5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43158105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17000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0,8456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535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83,6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144150459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18000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0,8362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529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82,7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348463128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19000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0,8268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523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81,7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373760274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20000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0,8175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517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80,8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648435615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21000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0,8082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511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79,8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028167228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22000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0,7989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506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79,1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13996143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23000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0,7896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500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78,1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236968887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24000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0,7803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494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77,2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695449957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25000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0,7711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488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76,3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4192015190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26000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0,7619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482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75,3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1968672598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27000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0,7527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476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74,4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26894271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28000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0,7436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470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73,4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47370590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29000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0,7345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464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72,5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2066110512"/>
                  </a:ext>
                </a:extLst>
              </a:tr>
              <a:tr h="147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30000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0,7253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458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71,6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447" marR="38447" marT="0" marB="0" anchor="b"/>
                </a:tc>
                <a:extLst>
                  <a:ext uri="{0D108BD9-81ED-4DB2-BD59-A6C34878D82A}">
                    <a16:rowId xmlns:a16="http://schemas.microsoft.com/office/drawing/2014/main" val="3968733632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395000" y="567266"/>
            <a:ext cx="41851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Значения времени наработки до отказа, час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342076" y="444155"/>
            <a:ext cx="37456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 smtClean="0"/>
              <a:t>Значения коэффициента эффективности</a:t>
            </a:r>
            <a:endParaRPr lang="en-US" sz="1600" dirty="0" smtClean="0"/>
          </a:p>
          <a:p>
            <a:pPr algn="ctr"/>
            <a:r>
              <a:rPr lang="en-US" sz="1600" dirty="0" smtClean="0"/>
              <a:t>(</a:t>
            </a:r>
            <a:r>
              <a:rPr lang="ru-RU" sz="1600" dirty="0" smtClean="0"/>
              <a:t>математическое ожидание)</a:t>
            </a:r>
            <a:endParaRPr lang="ru-R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77290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2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76763" y="66502"/>
            <a:ext cx="8597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ВЫВОДЫ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0999" y="604010"/>
            <a:ext cx="111728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dirty="0" err="1" smtClean="0">
                <a:ea typeface="Times New Roman" panose="02020603050405020304" pitchFamily="18" charset="0"/>
                <a:cs typeface="Times New Roman" panose="02020603050405020304" pitchFamily="18" charset="0"/>
              </a:rPr>
              <a:t>марковского</a:t>
            </a:r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подхода для </a:t>
            </a: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расчета надежности </a:t>
            </a:r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РЭА с решением ГСП через уравнение Колмогорова-Чепмена </a:t>
            </a: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(УКЧ</a:t>
            </a:r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) позволяет более простым, чем другие известные способы (</a:t>
            </a:r>
            <a:r>
              <a:rPr lang="ru-RU" dirty="0" err="1" smtClean="0">
                <a:ea typeface="Times New Roman" panose="02020603050405020304" pitchFamily="18" charset="0"/>
                <a:cs typeface="Times New Roman" panose="02020603050405020304" pitchFamily="18" charset="0"/>
              </a:rPr>
              <a:t>ССхН</a:t>
            </a:r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, уравнения Колмогорова) учесть: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cs typeface="Times New Roman" panose="02020603050405020304" pitchFamily="18" charset="0"/>
              </a:rPr>
              <a:t>различные стадии жизненного цикла РЭА;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многократное циклическое применение РЭА;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состояния частичных отказов;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порядок возникновения многократных отказов;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сложные схемы резервирования элементов и блоков аппаратуры.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80999" y="3258235"/>
            <a:ext cx="112109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Тем не менее, </a:t>
            </a:r>
            <a:r>
              <a:rPr lang="ru-RU" dirty="0" err="1" smtClean="0">
                <a:ea typeface="Times New Roman" panose="02020603050405020304" pitchFamily="18" charset="0"/>
                <a:cs typeface="Times New Roman" panose="02020603050405020304" pitchFamily="18" charset="0"/>
              </a:rPr>
              <a:t>марковскому</a:t>
            </a:r>
            <a:r>
              <a:rPr lang="ru-RU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подходу присуща проблема быстрого роста количества состояний при увеличении количества элементов. Преодоление проблемы путем построения нескольких вложенных ГСП методом декомпозиции функциональных схем РЭА «сверху-вниз» приводит к потере (не использованию) части информации при расчете «снизу-вверх».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80999" y="4626740"/>
            <a:ext cx="112109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Для расчета дополнительных показателей надежности (коэффициенты </a:t>
            </a:r>
            <a:r>
              <a:rPr lang="ru-RU" dirty="0"/>
              <a:t>готовности и оперативной </a:t>
            </a:r>
            <a:r>
              <a:rPr lang="ru-RU" dirty="0" smtClean="0"/>
              <a:t>готовности, ресурс по включениям и др.) требуется разработка гибридной модели, сочетающей свойства </a:t>
            </a:r>
            <a:r>
              <a:rPr lang="ru-RU" dirty="0" err="1" smtClean="0"/>
              <a:t>марковского</a:t>
            </a:r>
            <a:r>
              <a:rPr lang="ru-RU" dirty="0" smtClean="0"/>
              <a:t> подхода и, как вариант, методов Монте-Карло, динамики средних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177290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36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1044</Words>
  <Application>Microsoft Office PowerPoint</Application>
  <PresentationFormat>Широкоэкранный</PresentationFormat>
  <Paragraphs>525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Тема Office</vt:lpstr>
      <vt:lpstr>ОБОСНОВАНИЕ ПАРАМЕТРОВ ЦИФРОВОЙ АКТИВНОЙ ФАЗИРОВАННОЙ АНТЕННОЙ РЕШЕТКИ  С УЧЕТОМ НАДЕЖНОСТИ ЭКБ НА ОСНОВЕ ПРИМЕНЕНИЯ МАРКОВСКОГО ПОДХОДА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Слободсков Олег Евгеньевич</dc:creator>
  <cp:lastModifiedBy>user</cp:lastModifiedBy>
  <cp:revision>33</cp:revision>
  <dcterms:created xsi:type="dcterms:W3CDTF">2024-08-29T12:06:35Z</dcterms:created>
  <dcterms:modified xsi:type="dcterms:W3CDTF">2026-01-29T16:34:36Z</dcterms:modified>
</cp:coreProperties>
</file>